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opicu/novabank-retention-framewor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1625" y="2150864"/>
            <a:ext cx="90487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2563EB"/>
                </a:solidFill>
                <a:latin typeface="Lato"/>
              </a:rPr>
              <a:t>QUANTIC MSBA </a:t>
            </a:r>
            <a:r>
              <a:rPr lang="de-DE" sz="1350" b="1" i="0" u="none" dirty="0">
                <a:solidFill>
                  <a:srgbClr val="2563EB"/>
                </a:solidFill>
                <a:latin typeface="Lato"/>
              </a:rPr>
              <a:t>PROJ</a:t>
            </a:r>
            <a:r>
              <a:rPr lang="de-DE" sz="1350" b="1" dirty="0">
                <a:solidFill>
                  <a:srgbClr val="2563EB"/>
                </a:solidFill>
                <a:latin typeface="Lato"/>
              </a:rPr>
              <a:t>ECT</a:t>
            </a:r>
            <a:r>
              <a:rPr sz="1350" b="1" i="0" u="none" dirty="0">
                <a:solidFill>
                  <a:srgbClr val="2563EB"/>
                </a:solidFill>
                <a:latin typeface="Lato"/>
              </a:rPr>
              <a:t>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406" y="2503289"/>
            <a:ext cx="9501187" cy="127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0F2942"/>
                </a:solidFill>
                <a:latin typeface="Poppins"/>
              </a:rPr>
              <a:t>Predictive Retention &amp; Deposit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3964185"/>
            <a:ext cx="9048750" cy="979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A Data-Driven Strategy for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NovaBank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Margin Recovery</a:t>
            </a:r>
            <a:r>
              <a:rPr dirty="0"/>
              <a:t>
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Standardized Decision Rules, Model Trade-offs, and Governance</a:t>
            </a:r>
          </a:p>
          <a:p>
            <a:pPr>
              <a:defRPr sz="1100" b="1">
                <a:solidFill>
                  <a:srgbClr val="2B6CB0"/>
                </a:solidFill>
              </a:defRPr>
            </a:pPr>
            <a:r>
              <a:rPr lang="de-DE" dirty="0"/>
              <a:t>				</a:t>
            </a:r>
            <a:r>
              <a:rPr dirty="0"/>
              <a:t>Reproducible Repository: </a:t>
            </a:r>
            <a:r>
              <a:rPr dirty="0">
                <a:hlinkClick r:id="rId3"/>
              </a:rPr>
              <a:t>https://github.com/popicu/novabank-retention-framework</a:t>
            </a:r>
            <a:endParaRPr lang="de-DE" dirty="0"/>
          </a:p>
          <a:p>
            <a:pPr>
              <a:defRPr sz="1100" b="1">
                <a:solidFill>
                  <a:srgbClr val="2B6CB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665416"/>
            <a:ext cx="1143000" cy="47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60645" y="951166"/>
            <a:ext cx="5670708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 dirty="0">
                <a:solidFill>
                  <a:srgbClr val="0F2942"/>
                </a:solidFill>
                <a:latin typeface="Poppins"/>
              </a:rPr>
              <a:t>Executive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65566"/>
            <a:ext cx="9966960" cy="2954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Business context:</a:t>
            </a:r>
          </a:p>
          <a:p>
            <a:r>
              <a:rPr lang="en-US" sz="1600" dirty="0" err="1"/>
              <a:t>NovaBank's</a:t>
            </a:r>
            <a:r>
              <a:rPr lang="en-US" sz="1600" dirty="0"/>
              <a:t> margins are under pressure from untargeted outbound campaigns. Only </a:t>
            </a:r>
            <a:r>
              <a:rPr lang="en-US" sz="1600" b="1" dirty="0"/>
              <a:t>11.27%</a:t>
            </a:r>
            <a:r>
              <a:rPr lang="en-US" sz="1600" dirty="0"/>
              <a:t> of contacted customers historically subscribed to a term deposit.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Decision:</a:t>
            </a:r>
          </a:p>
          <a:p>
            <a:r>
              <a:rPr lang="en-US" sz="1600" dirty="0"/>
              <a:t>Should </a:t>
            </a:r>
            <a:r>
              <a:rPr lang="en-US" sz="1600" dirty="0" err="1"/>
              <a:t>NovaBank</a:t>
            </a:r>
            <a:r>
              <a:rPr lang="en-US" sz="1600" dirty="0"/>
              <a:t> replace mass outreach with </a:t>
            </a:r>
            <a:r>
              <a:rPr lang="en-US" sz="1600" b="1" dirty="0"/>
              <a:t>model-based targeting</a:t>
            </a:r>
            <a:r>
              <a:rPr lang="en-US" sz="1600" dirty="0"/>
              <a:t> to concentrate limited calling capacity where conversion is most likely?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Analytical reframing:</a:t>
            </a:r>
          </a:p>
          <a:p>
            <a:r>
              <a:rPr lang="en-US" sz="1600" dirty="0"/>
              <a:t>The supplied dataset does not contain a customer-churn outcome. We therefore use term-deposit engagement as a proxy for the broader retention objective, predicting which customers are most likely to respond to a deposit campaign.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Proposed action:</a:t>
            </a:r>
          </a:p>
          <a:p>
            <a:r>
              <a:rPr lang="en-US" sz="1600" dirty="0"/>
              <a:t>Rank customers using pre-call information by predicted response probability and </a:t>
            </a:r>
            <a:r>
              <a:rPr lang="en-US" sz="1600" b="1" dirty="0"/>
              <a:t>target the top 20%</a:t>
            </a:r>
            <a:r>
              <a:rPr lang="en-US" sz="1600" dirty="0"/>
              <a:t>, balancing conversion capture, outreach cost, and customer contact fatigue.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BDF622-929C-0B2C-56CD-A1F564C8304B}"/>
              </a:ext>
            </a:extLst>
          </p:cNvPr>
          <p:cNvSpPr txBox="1"/>
          <p:nvPr/>
        </p:nvSpPr>
        <p:spPr>
          <a:xfrm>
            <a:off x="1051560" y="5582539"/>
            <a:ext cx="8732520" cy="22480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000" b="1" dirty="0"/>
              <a:t>Success measures:</a:t>
            </a:r>
            <a:r>
              <a:rPr lang="en-US" sz="1000" dirty="0"/>
              <a:t> Precision@20% • Conversion capture (Recall) • Net campaign profit</a:t>
            </a:r>
            <a:endParaRPr sz="1000" b="0" i="0" u="none" dirty="0">
              <a:solidFill>
                <a:srgbClr val="334155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26289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628900"/>
            <a:ext cx="4785360" cy="74219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Lato"/>
              </a:rPr>
              <a:t>Dataset Scope: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lang="en-US" sz="1350" b="0" i="0" u="none" dirty="0">
                <a:solidFill>
                  <a:srgbClr val="334155"/>
                </a:solidFill>
                <a:latin typeface="Lato"/>
              </a:rPr>
              <a:t>41,188 candidate contacts evaluated across 20 demographic, financial, relationship, campaign, and macro indicators.</a:t>
            </a:r>
            <a:endParaRPr sz="1350" b="0" i="0" u="none" dirty="0">
              <a:solidFill>
                <a:srgbClr val="334155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750" y="343128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22142"/>
            <a:ext cx="4623816" cy="48571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Lato"/>
              </a:rPr>
              <a:t>Data Leakage Prevention: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Stripped duration prior to training to ensure realistic pre-call operational forecasting.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405993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050792"/>
            <a:ext cx="4623816" cy="48571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Lato"/>
              </a:rPr>
              <a:t>Target Definition: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Binary target y mapped to deposit conversion (11.27% baseline rate).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68858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79442"/>
            <a:ext cx="4623816" cy="48571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Lato"/>
              </a:rPr>
              <a:t>Train-Test Protocol: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Stratified 80/20 train/test split to preserve minority class distribution.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2942"/>
                </a:solidFill>
                <a:latin typeface="Poppins"/>
              </a:rPr>
              <a:t>Data Readiness &amp; Hygiene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1920240"/>
            <a:ext cx="530352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0F2942"/>
                </a:solidFill>
              </a:defRPr>
            </a:pPr>
            <a:r>
              <a:t>1. Raw Data Ingestion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41,188 banking contacts across 20 social, financial &amp; economic indicators.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5303520" cy="8686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0F2942"/>
                </a:solidFill>
              </a:defRPr>
            </a:pPr>
            <a:r>
              <a:t>2. Leakage Elimination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Stripped 'duration' to prevent post-call look-ahead bias (ensures real-world auditability).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30352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0F2942"/>
                </a:solidFill>
              </a:defRPr>
            </a:pPr>
            <a:r>
              <a:t>3. Feature Transformation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One-hot dummy encoding on 10 categoricals; engineered 'previously_contacted' indicator.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074920"/>
            <a:ext cx="530352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0F2942"/>
                </a:solidFill>
              </a:defRPr>
            </a:pPr>
            <a:r>
              <a:t>4. Stratified Split (80/20)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Preserves 11.27% baseline conversion distribution across train &amp; test partitions.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104597"/>
              </p:ext>
            </p:extLst>
          </p:nvPr>
        </p:nvGraphicFramePr>
        <p:xfrm>
          <a:off x="571500" y="2171700"/>
          <a:ext cx="1104899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04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FFFFFF"/>
                          </a:solidFill>
                          <a:latin typeface="Poppins"/>
                        </a:rPr>
                        <a:t>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FFFFFF"/>
                          </a:solidFill>
                          <a:latin typeface="Poppins"/>
                        </a:rPr>
                        <a:t>Legacy Mass Outreach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FFFFFF"/>
                          </a:solidFill>
                          <a:latin typeface="Poppins"/>
                        </a:rPr>
                        <a:t>Baseline (Logistic Reg.)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FFFFFF"/>
                          </a:solidFill>
                          <a:latin typeface="Poppins"/>
                        </a:rPr>
                        <a:t>Recommended (Gradient Boost)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Test ROC-AUC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0.5000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0.8008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350" b="0" i="0" u="none" kern="1200" dirty="0">
                          <a:solidFill>
                            <a:srgbClr val="334155"/>
                          </a:solidFill>
                          <a:latin typeface="Lato"/>
                          <a:ea typeface="+mn-ea"/>
                          <a:cs typeface="+mn-cs"/>
                        </a:rPr>
                        <a:t>0.8142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Contacts Targeted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41,188 (100%)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8,23</a:t>
                      </a:r>
                      <a:r>
                        <a:rPr lang="de-DE" sz="135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8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 (Top 20%)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350" b="0" i="0" u="none" kern="1200" dirty="0">
                          <a:solidFill>
                            <a:srgbClr val="334155"/>
                          </a:solidFill>
                          <a:latin typeface="Lato"/>
                          <a:ea typeface="+mn-ea"/>
                          <a:cs typeface="+mn-cs"/>
                        </a:rPr>
                        <a:t>8,23</a:t>
                      </a:r>
                      <a:r>
                        <a:rPr lang="de-DE" sz="1350" b="0" i="0" u="none" kern="1200" dirty="0">
                          <a:solidFill>
                            <a:srgbClr val="334155"/>
                          </a:solidFill>
                          <a:latin typeface="Lato"/>
                          <a:ea typeface="+mn-ea"/>
                          <a:cs typeface="+mn-cs"/>
                        </a:rPr>
                        <a:t>8</a:t>
                      </a:r>
                      <a:r>
                        <a:rPr sz="1350" b="0" i="0" u="none" kern="1200" dirty="0">
                          <a:solidFill>
                            <a:srgbClr val="334155"/>
                          </a:solidFill>
                          <a:latin typeface="Lato"/>
                          <a:ea typeface="+mn-ea"/>
                          <a:cs typeface="+mn-cs"/>
                        </a:rPr>
                        <a:t> (Top 20%)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Precision@20%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11.27%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36.55%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350" b="0" i="0" u="none" kern="1200" dirty="0">
                          <a:solidFill>
                            <a:srgbClr val="334155"/>
                          </a:solidFill>
                          <a:latin typeface="Lato"/>
                          <a:ea typeface="+mn-ea"/>
                          <a:cs typeface="+mn-cs"/>
                        </a:rPr>
                        <a:t>37.77%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Recall (Conversions Captured)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100.0%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64.9%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350" b="0" i="0" u="none" kern="1200" dirty="0">
                          <a:solidFill>
                            <a:srgbClr val="334155"/>
                          </a:solidFill>
                          <a:latin typeface="Lato"/>
                          <a:ea typeface="+mn-ea"/>
                          <a:cs typeface="+mn-cs"/>
                        </a:rPr>
                        <a:t>67.03%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1E3A8A"/>
                          </a:solidFill>
                          <a:latin typeface="Lato"/>
                        </a:rPr>
                        <a:t>Net Campaign Profit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1E3A8A"/>
                          </a:solidFill>
                          <a:latin typeface="Lato"/>
                        </a:rPr>
                        <a:t>€542,180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 dirty="0">
                          <a:solidFill>
                            <a:srgbClr val="1E3A8A"/>
                          </a:solidFill>
                          <a:latin typeface="Lato"/>
                        </a:rPr>
                        <a:t>€62</a:t>
                      </a:r>
                      <a:r>
                        <a:rPr lang="de-DE" sz="1350" b="1" i="0" u="none" dirty="0">
                          <a:solidFill>
                            <a:srgbClr val="1E3A8A"/>
                          </a:solidFill>
                          <a:latin typeface="Lato"/>
                        </a:rPr>
                        <a:t>8</a:t>
                      </a:r>
                      <a:r>
                        <a:rPr sz="1350" b="1" i="0" u="none" dirty="0">
                          <a:solidFill>
                            <a:srgbClr val="1E3A8A"/>
                          </a:solidFill>
                          <a:latin typeface="Lato"/>
                        </a:rPr>
                        <a:t>,</a:t>
                      </a:r>
                      <a:r>
                        <a:rPr lang="de-DE" sz="1350" b="1" i="0" u="none" dirty="0">
                          <a:solidFill>
                            <a:srgbClr val="1E3A8A"/>
                          </a:solidFill>
                          <a:latin typeface="Lato"/>
                        </a:rPr>
                        <a:t>930</a:t>
                      </a:r>
                      <a:endParaRPr sz="1350" b="1" i="0" u="none" dirty="0">
                        <a:solidFill>
                          <a:srgbClr val="1E3A8A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350" b="1" i="0" u="none" kern="1200" dirty="0">
                          <a:solidFill>
                            <a:srgbClr val="1E3A8A"/>
                          </a:solidFill>
                          <a:latin typeface="Lato"/>
                          <a:ea typeface="+mn-ea"/>
                          <a:cs typeface="+mn-cs"/>
                        </a:rPr>
                        <a:t>€653,930 (+20.6%)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28912"/>
            <a:ext cx="2683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54871" y="2728912"/>
            <a:ext cx="2454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09046" y="2728912"/>
            <a:ext cx="2520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30046" y="2728912"/>
            <a:ext cx="3390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300412"/>
            <a:ext cx="2683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54871" y="3300412"/>
            <a:ext cx="2454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09046" y="3300412"/>
            <a:ext cx="2520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30046" y="3300412"/>
            <a:ext cx="3390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871912"/>
            <a:ext cx="2683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54871" y="3871912"/>
            <a:ext cx="2454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09046" y="3871912"/>
            <a:ext cx="2520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30046" y="3871912"/>
            <a:ext cx="3390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443412"/>
            <a:ext cx="2683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54871" y="4443412"/>
            <a:ext cx="2454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09046" y="4443412"/>
            <a:ext cx="2520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30046" y="4443412"/>
            <a:ext cx="3390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5014912"/>
            <a:ext cx="2683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54871" y="5014912"/>
            <a:ext cx="2454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09046" y="5014912"/>
            <a:ext cx="2520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30046" y="5014912"/>
            <a:ext cx="3390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5586412"/>
            <a:ext cx="2683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54871" y="5586412"/>
            <a:ext cx="2454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09046" y="5586412"/>
            <a:ext cx="2520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30046" y="5586412"/>
            <a:ext cx="3390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2942"/>
                </a:solidFill>
                <a:latin typeface="Poppins"/>
              </a:rPr>
              <a:t>Model Diagnostics &amp; Comparison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6300" y="5629634"/>
            <a:ext cx="10744200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 b="0" i="1" u="none" dirty="0">
                <a:solidFill>
                  <a:srgbClr val="334155"/>
                </a:solidFill>
                <a:latin typeface="Lato"/>
              </a:rPr>
              <a:t>At the 20% population cutoff, the Gradient Boosting policy captures 67.03% of all deposit conversions, delivering 3.34x conversion density over mass calling.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2700" b="1" i="0" u="none" dirty="0" err="1">
                <a:solidFill>
                  <a:srgbClr val="0F2942"/>
                </a:solidFill>
                <a:latin typeface="Poppins"/>
              </a:rPr>
              <a:t>Cumulative</a:t>
            </a:r>
            <a:r>
              <a:rPr lang="de-DE" sz="2700" b="1" i="0" u="none" dirty="0">
                <a:solidFill>
                  <a:srgbClr val="0F2942"/>
                </a:solidFill>
                <a:latin typeface="Poppins"/>
              </a:rPr>
              <a:t> </a:t>
            </a:r>
            <a:r>
              <a:rPr lang="de-DE" sz="2700" b="1" i="0" u="none" dirty="0" err="1">
                <a:solidFill>
                  <a:srgbClr val="0F2942"/>
                </a:solidFill>
                <a:latin typeface="Poppins"/>
              </a:rPr>
              <a:t>Gains</a:t>
            </a:r>
            <a:r>
              <a:rPr lang="de-DE" sz="2700" b="1" i="0" u="none" dirty="0">
                <a:solidFill>
                  <a:srgbClr val="0F2942"/>
                </a:solidFill>
                <a:latin typeface="Poppins"/>
              </a:rPr>
              <a:t> </a:t>
            </a:r>
            <a:r>
              <a:rPr sz="2700" b="1" i="0" u="none" dirty="0">
                <a:solidFill>
                  <a:srgbClr val="0F2942"/>
                </a:solidFill>
                <a:latin typeface="Poppins"/>
              </a:rPr>
              <a:t>&amp; Conversion Precision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D136D5-7AD8-E5BE-9B4D-D1F34C98A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475" y="2621686"/>
            <a:ext cx="528701" cy="257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85BAF5-7FAC-11FD-BA19-5FBFF90A7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474" y="3257479"/>
            <a:ext cx="528701" cy="257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4171CC-9744-26A6-A3DD-998C06CAD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475" y="3794939"/>
            <a:ext cx="528701" cy="257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F249A0-D44A-69C7-A102-35F05504E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887" y="1124570"/>
            <a:ext cx="5966658" cy="42658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3D9E33-F51D-10CD-22DD-D0AE7B745F7D}"/>
              </a:ext>
            </a:extLst>
          </p:cNvPr>
          <p:cNvSpPr txBox="1"/>
          <p:nvPr/>
        </p:nvSpPr>
        <p:spPr>
          <a:xfrm>
            <a:off x="7669093" y="2750273"/>
            <a:ext cx="32488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Top-20% trade-off: ~5,128 non-converters contacted vs. ~1,530 historical converters missed</a:t>
            </a:r>
            <a:endParaRPr lang="de-D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6087"/>
            <a:ext cx="5334000" cy="1800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3281362"/>
            <a:ext cx="4743450" cy="896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sz="6750" b="1" i="0" u="none" dirty="0">
                <a:solidFill>
                  <a:srgbClr val="2563EB"/>
                </a:solidFill>
                <a:latin typeface="Poppins"/>
              </a:rPr>
              <a:t>+20.6%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4233862"/>
            <a:ext cx="4743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1E3A8A"/>
                </a:solidFill>
                <a:latin typeface="Lato"/>
              </a:rPr>
              <a:t>Net Profit Expansion (+€111,750)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805112"/>
            <a:ext cx="56007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2942"/>
                </a:solidFill>
                <a:latin typeface="Poppins"/>
              </a:rPr>
              <a:t>Key Financial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081337"/>
            <a:ext cx="5334000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Lato"/>
              </a:rPr>
              <a:t>Call Spend Slashed: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Operating cost drops from €617,820 to €123,5</a:t>
            </a:r>
            <a:r>
              <a:rPr lang="de-DE" sz="1350" b="0" i="0" u="none" dirty="0">
                <a:solidFill>
                  <a:srgbClr val="334155"/>
                </a:solidFill>
                <a:latin typeface="Lato"/>
              </a:rPr>
              <a:t>70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(-80.0% cost reduction).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709987"/>
            <a:ext cx="5334000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Lato"/>
              </a:rPr>
              <a:t>Captured Conversions: </a:t>
            </a:r>
            <a:r>
              <a:rPr sz="1350" dirty="0">
                <a:solidFill>
                  <a:srgbClr val="334155"/>
                </a:solidFill>
                <a:latin typeface="Lato"/>
              </a:rPr>
              <a:t>Retains 3,110 term-deposit subscriptions using an illustrative €250 assumed campaign value</a:t>
            </a:r>
            <a:r>
              <a:rPr sz="1350" b="1" i="0" u="none" dirty="0">
                <a:solidFill>
                  <a:srgbClr val="334155"/>
                </a:solidFill>
                <a:latin typeface="Lato"/>
              </a:rPr>
              <a:t>.</a:t>
            </a:r>
            <a:endParaRPr sz="1350" b="0" i="0" u="none" dirty="0">
              <a:solidFill>
                <a:srgbClr val="334155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86500" y="4338637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Customer Experience: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Prevents over 32,900 unnecessary cold calls, preserving brand equity.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2942"/>
                </a:solidFill>
                <a:latin typeface="Poppins"/>
              </a:rPr>
              <a:t>Financial Impact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33675"/>
            <a:ext cx="3524250" cy="2305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733675"/>
            <a:ext cx="3524250" cy="2305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733675"/>
            <a:ext cx="3524250" cy="2305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471861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2942"/>
                </a:solidFill>
                <a:latin typeface="Poppins"/>
              </a:rPr>
              <a:t>Macro Indicators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889629"/>
            <a:ext cx="30289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dirty="0"/>
              <a:t>Permutation importance is concentrated in macro indicators, led by </a:t>
            </a:r>
            <a:r>
              <a:rPr dirty="0" err="1"/>
              <a:t>nr.employed</a:t>
            </a:r>
            <a:r>
              <a:rPr dirty="0"/>
              <a:t>, </a:t>
            </a:r>
            <a:r>
              <a:rPr dirty="0" err="1"/>
              <a:t>emp.var.rate</a:t>
            </a:r>
            <a:r>
              <a:rPr dirty="0"/>
              <a:t>, </a:t>
            </a:r>
            <a:r>
              <a:rPr dirty="0" err="1"/>
              <a:t>cons.price.idx</a:t>
            </a:r>
            <a:r>
              <a:rPr dirty="0"/>
              <a:t>, and euribor3m.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1525" y="3471862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2942"/>
                </a:solidFill>
                <a:latin typeface="Poppins"/>
              </a:rPr>
              <a:t>Relationship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971925"/>
            <a:ext cx="30289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dirty="0"/>
              <a:t>Contact channel, campaign activity, and relationship-history variables also contribute to the predictive ranking.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697" y="3453574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2942"/>
                </a:solidFill>
                <a:latin typeface="Poppins"/>
              </a:rPr>
              <a:t>Demographic Fairness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696" y="3640868"/>
            <a:ext cx="3372803" cy="1388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0" i="0" u="none" dirty="0">
                <a:solidFill>
                  <a:srgbClr val="475569"/>
                </a:solidFill>
                <a:latin typeface="Lato"/>
              </a:rPr>
              <a:t>
</a:t>
            </a:r>
            <a:r>
              <a:rPr lang="en-US" dirty="0"/>
              <a:t>Age, marital status, and education are monitored through subgroup selection-rate and historical conversion-rate audits; small groups require cautious interpretation.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3028950"/>
            <a:ext cx="361950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3028950"/>
            <a:ext cx="36195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3028950"/>
            <a:ext cx="45720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2942"/>
                </a:solidFill>
                <a:latin typeface="Poppins"/>
              </a:rPr>
              <a:t>Permutation Importance &amp; Ethical Governance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5700712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2942"/>
                </a:solidFill>
                <a:latin typeface="Poppins"/>
              </a:rPr>
              <a:t>Macro Stress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1076325"/>
            <a:ext cx="54292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390650"/>
            <a:ext cx="570071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2942"/>
                </a:solidFill>
                <a:latin typeface="Poppins"/>
              </a:rPr>
              <a:t>Interest Rate 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1666875"/>
            <a:ext cx="5429250" cy="483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dirty="0"/>
              <a:t>An illustrative 100 bps reduction in Euribor is modeled as an 8.5% conversion reduction; this scenario supports ongoing model monitoring and recalibration.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2803689"/>
            <a:ext cx="5429250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dirty="0"/>
              <a:t>CLV Erosion Buffer: Even if the illustrative campaign value compresses by 20% (from €250 to €200), the top-20% policy remains substantially more profitable than mass outreach, generating approximately €498k vs. €310k in net campaign profit under the stated assumptions.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6441E9-8C91-F2CC-32CD-502B051BB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962" y="1090612"/>
            <a:ext cx="5609654" cy="4808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24325"/>
            <a:ext cx="3314700" cy="1657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50" y="2590038"/>
            <a:ext cx="3314700" cy="10580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4124325"/>
            <a:ext cx="3314700" cy="16573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3867150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8652" y="4276725"/>
            <a:ext cx="316039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2563EB"/>
                </a:solidFill>
                <a:latin typeface="Poppins"/>
              </a:rPr>
              <a:t>Weeks 1–2: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4619625"/>
            <a:ext cx="3009900" cy="638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200" dirty="0"/>
              <a:t>Integrate scoring pipeline into CRM; route the top 20% of scored contacts to the outbound team</a:t>
            </a:r>
            <a:endParaRPr sz="1125" b="0" i="0" u="none" dirty="0">
              <a:solidFill>
                <a:srgbClr val="334155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15802" y="2724150"/>
            <a:ext cx="316039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2563EB"/>
                </a:solidFill>
                <a:latin typeface="Poppins"/>
              </a:rPr>
              <a:t>Weeks 3–6: A/B 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1050" y="3067050"/>
            <a:ext cx="3009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Run randomized trial across 4,000 clients (2,000 model vs. 2,000 control).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952" y="4276725"/>
            <a:ext cx="316039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2563EB"/>
                </a:solidFill>
                <a:latin typeface="Poppins"/>
              </a:rPr>
              <a:t>Weeks 7–8: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619625"/>
            <a:ext cx="3009900" cy="1096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200" dirty="0"/>
              <a:t>Scale only if the randomized pilot demonstrates positive incremental conversion lift versus control; monitor Precision@20% ≥ 35% and Return on Campaign Spend ≥ 5x as supporting operating metrics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2942"/>
                </a:solidFill>
                <a:latin typeface="Poppins"/>
              </a:rPr>
              <a:t>60-Day Pilot Implementation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124075" y="37814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91225" y="37814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858375" y="37814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476250"/>
            <a:ext cx="11601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0F2942"/>
                </a:solidFill>
                <a:latin typeface="Poppins"/>
              </a:rPr>
              <a:t>Questions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8"/>
                </a:solidFill>
              </a:defRPr>
            </a:pPr>
            <a:r>
              <a:t>Audit Defensibility, Human-in-the-Loop AI Attribution, and Continuous Operational Oversight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200" b="1">
                <a:solidFill>
                  <a:srgbClr val="0F2942"/>
                </a:solidFill>
              </a:defRPr>
            </a:pPr>
            <a:r>
              <a:rPr dirty="0"/>
              <a:t>🤖 AI Copilot Attribution &amp; Governance</a:t>
            </a:r>
          </a:p>
          <a:p>
            <a:pPr>
              <a:spcBef>
                <a:spcPts val="600"/>
              </a:spcBef>
              <a:defRPr sz="950">
                <a:solidFill>
                  <a:srgbClr val="2D3748"/>
                </a:solidFill>
              </a:defRPr>
            </a:pPr>
            <a:r>
              <a:rPr b="1" dirty="0"/>
              <a:t>• Assistance Scope: Generative AI copilots supported scikit-learn syntax boilerplate, Matplotlib chart formatting, and Markdown scaffolding.</a:t>
            </a:r>
          </a:p>
          <a:p>
            <a:pPr>
              <a:spcBef>
                <a:spcPts val="600"/>
              </a:spcBef>
              <a:defRPr sz="950">
                <a:solidFill>
                  <a:srgbClr val="2D3748"/>
                </a:solidFill>
              </a:defRPr>
            </a:pPr>
            <a:r>
              <a:rPr b="1" dirty="0"/>
              <a:t>• Human Direction: Core decision logic, target engineering, business objective function (€15/call vs €250 CLV), and decile policy rules were designed by the project author.</a:t>
            </a:r>
          </a:p>
          <a:p>
            <a:pPr>
              <a:spcBef>
                <a:spcPts val="600"/>
              </a:spcBef>
              <a:defRPr sz="950">
                <a:solidFill>
                  <a:srgbClr val="2D3748"/>
                </a:solidFill>
              </a:defRPr>
            </a:pPr>
            <a:r>
              <a:rPr b="1" dirty="0"/>
              <a:t>• Data Leakage Remediation: Independently identified and audited the 'duration' feature trap, mandating its drop to preserve pre-call operational validity.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30352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200" b="1">
                <a:solidFill>
                  <a:srgbClr val="0F2942"/>
                </a:solidFill>
              </a:defRPr>
            </a:pPr>
            <a:r>
              <a:rPr dirty="0"/>
              <a:t>🛡️ Model Governance &amp; Operational Controls</a:t>
            </a:r>
            <a:br>
              <a:rPr dirty="0"/>
            </a:br>
            <a:r>
              <a:rPr sz="950" dirty="0">
                <a:solidFill>
                  <a:srgbClr val="2D3748"/>
                </a:solidFill>
              </a:rPr>
              <a:t>• Macro Drift Monitoring: Macro indicators are prominent in permutation-importance results, so performance and calibration should be reviewed periodically as economic conditions change.</a:t>
            </a:r>
            <a:br>
              <a:rPr sz="950" dirty="0">
                <a:solidFill>
                  <a:srgbClr val="2D3748"/>
                </a:solidFill>
              </a:rPr>
            </a:br>
            <a:r>
              <a:rPr sz="950" dirty="0">
                <a:solidFill>
                  <a:srgbClr val="2D3748"/>
                </a:solidFill>
              </a:rPr>
              <a:t>• Fairness &amp; Demographic Monitoring: Monitor subgroup selection rates and historical conversion rates across age, marital status, and education; investigate material disparities before scale-up.</a:t>
            </a:r>
            <a:br>
              <a:rPr sz="950" dirty="0">
                <a:solidFill>
                  <a:srgbClr val="2D3748"/>
                </a:solidFill>
              </a:rPr>
            </a:br>
            <a:r>
              <a:rPr sz="950" dirty="0">
                <a:solidFill>
                  <a:srgbClr val="2D3748"/>
                </a:solidFill>
              </a:rPr>
              <a:t>• Contact Saturation Guardrail: Historical conversion rates decline as campaign contacts accumulate; use contact frequency as an operational guardrail and treat the observed relationship as descriptive, not causal.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0972800" cy="77724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defRPr sz="1050" b="1">
                <a:solidFill>
                  <a:srgbClr val="0F2942"/>
                </a:solidFill>
              </a:defRPr>
            </a:pPr>
            <a:r>
              <a:rPr dirty="0"/>
              <a:t>🔗 Reproducible Codebase &amp; Auditable Submission </a:t>
            </a:r>
            <a:r>
              <a:rPr lang="de-DE" dirty="0"/>
              <a:t>Files</a:t>
            </a:r>
            <a:endParaRPr dirty="0"/>
          </a:p>
          <a:p>
            <a:pPr>
              <a:defRPr sz="900" b="1">
                <a:solidFill>
                  <a:srgbClr val="2B6CB0"/>
                </a:solidFill>
              </a:defRPr>
            </a:pPr>
            <a:r>
              <a:rPr dirty="0"/>
              <a:t>Public GitHub Repository: https://github.com/popicu/novabank-retention-framework  |  Includes main.py, reproducible notebook, requirements.txt, and diagnostic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Horatiu Popescu</dc:creator>
  <cp:keywords/>
  <dc:description>generated using python-pptx</dc:description>
  <cp:lastModifiedBy>Horatiu Popescu</cp:lastModifiedBy>
  <cp:revision>5</cp:revision>
  <dcterms:created xsi:type="dcterms:W3CDTF">2013-01-27T09:14:16Z</dcterms:created>
  <dcterms:modified xsi:type="dcterms:W3CDTF">2026-09-11T22:58:55Z</dcterms:modified>
  <cp:category/>
</cp:coreProperties>
</file>